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DATA STREAM ANALYTICS  |  DSA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REAL-TIME IoT SENSOR STREAMING ANALYTICS</a:t>
            </a:r>
          </a:p>
          <a:p>
            <a:pPr>
              <a:defRPr sz="2600" b="1">
                <a:solidFill>
                  <a:srgbClr val="2563EB"/>
                </a:solidFill>
              </a:defRPr>
            </a:pPr>
            <a:r>
              <a:t>AND ANOMALY DETECTION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377440"/>
            <a:ext cx="10058400" cy="38404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514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6B6D4"/>
                </a:solidFill>
              </a:defRPr>
            </a:pPr>
            <a:r>
              <a:t>GROUP NO: 3  |  GROUP MEMBERS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926080"/>
            <a:ext cx="466344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999232"/>
            <a:ext cx="4297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USN: 23BTRCL227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P CHETHAN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26080"/>
            <a:ext cx="466344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999232"/>
            <a:ext cx="4297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USN: 23BTRCL217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MUKKAMALLA LOKESHWAR REDDY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840480"/>
            <a:ext cx="466344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3913632"/>
            <a:ext cx="4297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USN: 23BTRCL221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NADAKUDURU SRINIVAS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466344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913632"/>
            <a:ext cx="4297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USN: 23BTRCL233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SOMISETTY JAGANNADA KAILASH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800600"/>
            <a:ext cx="950976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486460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SUBMITTED TO:  DR. ARCHANA SASI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Course Coordinator / Faculty, Data Stream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63550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Submitted in partial fulfillment of the requirements for the Data Stream Analytics Mini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CONTEXT &amp;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3657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Traditional Batch Processing (Delayed)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IoT devices continuously generate high-velocity sensor data.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Traditional batch processing stores data first and analyzes it later.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Delayed analysis can miss abnormal equipment behavior during critical operations.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Static threshold rules (e.g. Temp &gt; 50) fail to detect combinations of unusual sensor values.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Manual monitoring across multiple machines is slow, expensive, and impractical.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3657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Real-Time Streaming Approach (Our Goal)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We need a system that analyzes sensor data as it arrives.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Real-time processing identifies abnormal behavior before hardware failures happen.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Machine learning evaluates multivariate combinations across sensor metrics.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Efficient DSA data structures keep streaming memory strictly bounded.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A live operator dashboard provides instant updates as new events are processed.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PROJECT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563EB"/>
                </a:solidFill>
              </a:defRPr>
            </a:pPr>
            <a:r>
              <a:t>1. Real-Time Streaming Pipeline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Build a complete real-time streaming pipeline from data source to visualization.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563EB"/>
                </a:solidFill>
              </a:defRPr>
            </a:pPr>
            <a:r>
              <a:t>2. Sensor Event Transport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Use Apache Kafka to transport sensor events reliably as they are generated.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2120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5468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563EB"/>
                </a:solidFill>
              </a:defRPr>
            </a:pPr>
            <a:r>
              <a:t>3. Efficient DSA Processing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Apply DSA techniques (sliding windows, hash maps, heaps) for efficient stream processing.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17520"/>
            <a:ext cx="52120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15468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563EB"/>
                </a:solidFill>
              </a:defRPr>
            </a:pPr>
            <a:r>
              <a:t>4. Machine Learning Detection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Detect abnormal sensor readings using an unsupervised Isolation Forest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52120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0060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563EB"/>
                </a:solidFill>
              </a:defRPr>
            </a:pPr>
            <a:r>
              <a:t>5. Relational Data Storage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Store processed readings, rolling metrics, and detected anomalies in MySQL.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663440"/>
            <a:ext cx="52120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80060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563EB"/>
                </a:solidFill>
              </a:defRPr>
            </a:pPr>
            <a:r>
              <a:t>6. Live Dashboard Visualization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Display live streaming trends, metrics, and anomaly indicators using Streamlit.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Six-Layer System Architecture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280160"/>
            <a:ext cx="384048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417320"/>
            <a:ext cx="3474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The Six Canonical Layers:</a:t>
            </a:r>
          </a:p>
          <a:p>
            <a:pPr>
              <a:spcBef>
                <a:spcPts val="700"/>
              </a:spcBef>
              <a:defRPr sz="1100" b="1">
                <a:solidFill>
                  <a:srgbClr val="2563EB"/>
                </a:solidFill>
              </a:defRPr>
            </a:pPr>
            <a:r>
              <a:t>1. Data Source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Simulated IoT sensor readings across 5 devices.</a:t>
            </a:r>
          </a:p>
          <a:p>
            <a:pPr>
              <a:spcBef>
                <a:spcPts val="700"/>
              </a:spcBef>
              <a:defRPr sz="1100" b="1">
                <a:solidFill>
                  <a:srgbClr val="2563EB"/>
                </a:solidFill>
              </a:defRPr>
            </a:pPr>
            <a:r>
              <a:t>2. Streaming Tool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Apache Kafka message broker for event transport.</a:t>
            </a:r>
          </a:p>
          <a:p>
            <a:pPr>
              <a:spcBef>
                <a:spcPts val="700"/>
              </a:spcBef>
              <a:defRPr sz="1100" b="1">
                <a:solidFill>
                  <a:srgbClr val="2563EB"/>
                </a:solidFill>
              </a:defRPr>
            </a:pPr>
            <a:r>
              <a:t>3. Stream Processor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Python consumer applying core DSA data structures.</a:t>
            </a:r>
          </a:p>
          <a:p>
            <a:pPr>
              <a:spcBef>
                <a:spcPts val="700"/>
              </a:spcBef>
              <a:defRPr sz="1100" b="1">
                <a:solidFill>
                  <a:srgbClr val="2563EB"/>
                </a:solidFill>
              </a:defRPr>
            </a:pPr>
            <a:r>
              <a:t>4. ML Algorithm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Isolation Forest for multivariate anomaly detection.</a:t>
            </a:r>
          </a:p>
          <a:p>
            <a:pPr>
              <a:spcBef>
                <a:spcPts val="700"/>
              </a:spcBef>
              <a:defRPr sz="1100" b="1">
                <a:solidFill>
                  <a:srgbClr val="2563EB"/>
                </a:solidFill>
              </a:defRPr>
            </a:pPr>
            <a:r>
              <a:t>5. Database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MySQL storing readings, rollups &amp; anomalies.</a:t>
            </a:r>
          </a:p>
          <a:p>
            <a:pPr>
              <a:spcBef>
                <a:spcPts val="700"/>
              </a:spcBef>
              <a:defRPr sz="1100" b="1">
                <a:solidFill>
                  <a:srgbClr val="2563EB"/>
                </a:solidFill>
              </a:defRPr>
            </a:pPr>
            <a:r>
              <a:t>6. Visualization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Streamlit dashboard with live auto-refresh.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DATA INGESTION &amp;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Data Source and Streaming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3200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IoT Sensor Data Simulation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• We simulate continuous IoT sensor readings.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• 5 industrial devices are monitored (sensor-01 to sensor-05).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• Sensors measure four physical parameters: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    - Temperature (nominal 20 - 35 °C)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    - Humidity (nominal 40 - 80 %)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    - Pressure (nominal 1000 - 1025 hPa)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    - Vibration (nominal 0.1 - 1.5 mm/s)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• Dataset contains 5,000 records with millisecond timestamps.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• Some unusual readings (~5%) are intentionally introduced for testing.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Apache Kafka Streaming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• Kafka sends sensor events one by one to the processing system.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• Simple Event Flow: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    Sensor Data → Kafka Producer → Kafka Topic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• Producer dispatches records with pacing delay (0.5s) for live visibility.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• Messages within a Kafka partition maintain their order of arrival,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  helping preserve the sequence required for time-based stream processing.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• Topic iot-sensor-events holds the active streaming queue.</a:t>
            </a:r>
          </a:p>
          <a:p>
            <a:pPr>
              <a:spcBef>
                <a:spcPts val="700"/>
              </a:spcBef>
              <a:defRPr sz="1150">
                <a:solidFill>
                  <a:srgbClr val="1E293B"/>
                </a:solidFill>
              </a:defRPr>
            </a:pPr>
            <a:r>
              <a:t>• Provides reliable, decoupled message transport without data loss.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CORE 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Stream Processing Using DSA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3200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Deque / Sliding Window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Keeps the latest 30 sensor readings in a fixed-size window.</a:t>
            </a:r>
            <a:br/>
            <a:r>
              <a:t>• Used for calculating real-time rolling averages.</a:t>
            </a:r>
            <a:br/>
            <a:r>
              <a:t>• Efficiently removes old readings in O(1) time without list shifting.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Hash Map / Dictionary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Keeps separate streaming information for each sensor device.</a:t>
            </a:r>
            <a:br/>
            <a:r>
              <a:t>• Allows fast O(1) average lookup and state update.</a:t>
            </a:r>
            <a:br/>
            <a:r>
              <a:t>• Organizes interleaved device streams cleanly.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212080" cy="3200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Priority Queue / Min-Heap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Keeps track of the most severe anomalies in O(log k) time.</a:t>
            </a:r>
            <a:br/>
            <a:r>
              <a:t>• Avoids sorting the entire history of thousands of events.</a:t>
            </a:r>
            <a:br/>
            <a:r>
              <a:t>• Keeps memory strictly bounded at O(k) capacity.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2120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2519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Running Statistics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Maintains count, average, minimum, and maximum in O(1) time.</a:t>
            </a:r>
            <a:br/>
            <a:r>
              <a:t>• Updates summary values continuously as each event arrives.</a:t>
            </a:r>
            <a:br/>
            <a:r>
              <a:t>• Eliminates repeatedly re-scanning past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Anomaly Detection Using Isolation Forest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4864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Isolation Forest Machine Learning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Unsupervised Algorithm: Learns patterns from sensor data without requiring manual failure labels.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Multivariate Detection: Identifies unusual combinations of multiple sensor features (temperature, humidity, pressure, vibration).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Core Idea: Anomalous points are 'few and different' - they get isolated much faster in randomized decision trees.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Offline Training: The model is trained before live streaming starts and saved to disk.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Live Scoring: The trained model is then used to score incoming Kafka events immediately.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Contamination (0.05): Represents the expected proportion of anomalies used by the model to establish its decision boundary.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49377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Simple Machine Learning Flow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Historical Sensor Data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06B6D4"/>
                </a:solidFill>
              </a:defRPr>
            </a:pPr>
            <a:r>
              <a:t>        ↓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Train Model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06B6D4"/>
                </a:solidFill>
              </a:defRPr>
            </a:pPr>
            <a:r>
              <a:t>        ↓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Saved Isolation Forest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06B6D4"/>
                </a:solidFill>
              </a:defRPr>
            </a:pPr>
            <a:r>
              <a:t>        ↓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Incoming Kafka Event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06B6D4"/>
                </a:solidFill>
              </a:defRPr>
            </a:pPr>
            <a:r>
              <a:t>        ↓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Anomaly Score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06B6D4"/>
                </a:solidFill>
              </a:defRPr>
            </a:pPr>
            <a:r>
              <a:t>        ↓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Normal / Anomaly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DATA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MySQL Database Persistence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What MySQL Stores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MySQL stores the processed streaming information: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Sensor Readings: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    Stores every processed event with device ID, sensor values, and timestamp.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Rolling Metrics: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    Stores computed 30-reading rolling averages, minimums, and maximums.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Detected Anomalies: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    Stores detected abnormal events with anomaly scores and severity level.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Why a Database is Used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Keeps Historical Results: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    Retains historical records for reporting, auditing, and trend analysis.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Separates Processing from Visualization: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    Stream processing runs independently without UI query delays.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Fast Live Queries: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    Allows the dashboard to quickly retrieve only recent readings.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Simple Architecture Flow: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    Stream Processor  →  MySQL  → 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OPERATOR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Real-Time Streamlit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Current Sensor Values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Displays real-time KPI cards for temperature, humidity, pressure, and vibration.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Total Readings &amp; Anomalies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Shows live counters for total processed events and detected abnormal readings.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52120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Sensor Trends Over Time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Interactive time-series charts display continuous physical sensor trends.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06040"/>
            <a:ext cx="52120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Rolling Average Overlays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Plots actual readings against rolling averages to highlight gradual drifts.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319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Color-Coded Anomaly Flags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Normal readings are marked in green; anomalies appear with prominent red badges.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9319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Top Severe Anomalies Table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Displays the most critical abnormal readings tracked by the priority queue.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74920"/>
            <a:ext cx="52120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Device Filter Control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Allows the operator to focus on all devices or select an individual machine.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5074920"/>
            <a:ext cx="52120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51663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Automatic Refresh Loop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Dashboard auto-refreshes periodically to reflect newly arrived stream records immediately.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LIVE PIPELINE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How the System Works (End-to-End)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Complete Data Movement Flow: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IoT Data  →  Kafka Producer  →  Kafka Topic  →  Stream Processor  →  DSA + Isolation Forest  →  MySQL  →  Streamlit Dashboard</a:t>
            </a:r>
          </a:p>
          <a:p>
            <a:pPr>
              <a:spcBef>
                <a:spcPts val="500"/>
              </a:spcBef>
              <a:defRPr sz="1100">
                <a:solidFill>
                  <a:srgbClr val="1E293B"/>
                </a:solidFill>
              </a:defRPr>
            </a:pPr>
            <a:r>
              <a:t>• Data is Generated: IoT sensor data is generated with simulated physical readings and test anomalies.</a:t>
            </a:r>
          </a:p>
          <a:p>
            <a:pPr>
              <a:spcBef>
                <a:spcPts val="500"/>
              </a:spcBef>
              <a:defRPr sz="1100">
                <a:solidFill>
                  <a:srgbClr val="1E293B"/>
                </a:solidFill>
              </a:defRPr>
            </a:pPr>
            <a:r>
              <a:t>• Events Sent Through Kafka: The Kafka Producer sends sensor events one by one to the message topic.</a:t>
            </a:r>
          </a:p>
          <a:p>
            <a:pPr>
              <a:spcBef>
                <a:spcPts val="500"/>
              </a:spcBef>
              <a:defRPr sz="1100">
                <a:solidFill>
                  <a:srgbClr val="1E293B"/>
                </a:solidFill>
              </a:defRPr>
            </a:pPr>
            <a:r>
              <a:t>• Immediate Event Processing: Each event is processed immediately as it arrives without waiting for batches.</a:t>
            </a:r>
          </a:p>
          <a:p>
            <a:pPr>
              <a:spcBef>
                <a:spcPts val="500"/>
              </a:spcBef>
              <a:defRPr sz="1100">
                <a:solidFill>
                  <a:srgbClr val="1E293B"/>
                </a:solidFill>
              </a:defRPr>
            </a:pPr>
            <a:r>
              <a:t>• DSA State Maintenance: Sliding window deque updates rolling values; hash map organizes per-device state.</a:t>
            </a:r>
          </a:p>
          <a:p>
            <a:pPr>
              <a:spcBef>
                <a:spcPts val="500"/>
              </a:spcBef>
              <a:defRPr sz="1100">
                <a:solidFill>
                  <a:srgbClr val="1E293B"/>
                </a:solidFill>
              </a:defRPr>
            </a:pPr>
            <a:r>
              <a:t>• ML Anomaly Detection: Isolation Forest detects multivariate anomalies across multiple sensor variables.</a:t>
            </a:r>
          </a:p>
          <a:p>
            <a:pPr>
              <a:spcBef>
                <a:spcPts val="500"/>
              </a:spcBef>
              <a:defRPr sz="1100">
                <a:solidFill>
                  <a:srgbClr val="1E293B"/>
                </a:solidFill>
              </a:defRPr>
            </a:pPr>
            <a:r>
              <a:t>• Priority Queue Ranking: A min-heap keeps track of the most severe anomalies without sorting all history.</a:t>
            </a:r>
          </a:p>
          <a:p>
            <a:pPr>
              <a:spcBef>
                <a:spcPts val="500"/>
              </a:spcBef>
              <a:defRPr sz="1100">
                <a:solidFill>
                  <a:srgbClr val="1E293B"/>
                </a:solidFill>
              </a:defRPr>
            </a:pPr>
            <a:r>
              <a:t>• Database Persistence: Processed readings, rolling averages, and anomaly flags are stored in MySQL.</a:t>
            </a:r>
          </a:p>
          <a:p>
            <a:pPr>
              <a:spcBef>
                <a:spcPts val="500"/>
              </a:spcBef>
              <a:defRPr sz="1100">
                <a:solidFill>
                  <a:srgbClr val="1E293B"/>
                </a:solidFill>
              </a:defRPr>
            </a:pPr>
            <a:r>
              <a:t>• Live Visual Display: Dashboard automatically displays updated results as new data arrives.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VERIFIED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Results, Testing and Advantages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Verified Automated Testing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Automated Test Suite: 31 / 31 tests passed (100%)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What Was Tested and Verified: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    - Sliding-window functionality (FIFO eviction &amp; rolling avg)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    - Running statistics accumulators (mean, min, max)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    - Heap/top-K anomaly tracking tested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    - Dataset generation tested (ranges &amp; test anomalies)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    - DSA integration tested across live stream processing path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Zero test failures across all automated test suites.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System Advantages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Real-Time Processing: Analyzes sensor events immediately as they arrive.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Bounded Memory Usage: Sliding windows and heaps keep memory strictly bounded.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Automated Anomaly Detection: Machine learning identifies abnormal multi-sensor patterns.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Live Visualization: Streamlit interface gives operators immediate visibility.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Modular Six-Layer Architecture: Components are decoupled, clean, and maintainable.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6217920" cy="5029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Project Conclusion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Successfully implemented a six-layer real-time streaming analytics system.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Kafka enables reliable, decoupled event streaming.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DSA structures (deque, hash map, heap) make stream processing efficient.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Isolation Forest detects unusual sensor behavior across multiple variables.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MySQL stores processed results and rolling window metrics.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Streamlit provides live, auto-refreshing visualization for monitoring.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097280"/>
            <a:ext cx="3931920" cy="5029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210312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2000"/>
              </a:spcBef>
              <a:defRPr sz="1800" b="1">
                <a:solidFill>
                  <a:srgbClr val="06B6D4"/>
                </a:solidFill>
              </a:defRPr>
            </a:pPr>
            <a:r>
              <a:t>QUESTIONS?</a:t>
            </a:r>
          </a:p>
          <a:p>
            <a:pPr algn="ctr">
              <a:spcBef>
                <a:spcPts val="3000"/>
              </a:spcBef>
              <a:defRPr sz="1200">
                <a:solidFill>
                  <a:srgbClr val="64748B"/>
                </a:solidFill>
              </a:defRPr>
            </a:pPr>
            <a:r>
              <a:t>Data Stream Analytics Mini Project</a:t>
            </a:r>
            <a:br/>
            <a:r>
              <a:t>Group No: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